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  <p:embeddedFont>
      <p:font typeface="Courier New" charset="1" panose="02070309020205020404"/>
      <p:regular r:id="rId37"/>
    </p:embeddedFont>
    <p:embeddedFont>
      <p:font typeface="Courier New Bold" charset="1" panose="020706090202050204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Cumprimente a banca, apresente o nome do projeto, os integrantes e a turma. Diga em uma frase o que o sistema resolve.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Esta apresentação segue exatamente a ficha de avaliação. São 13 quesitos, totalizando 10 pontos. Avise a banca que cada slide traz a pontuação no canto.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Leia o minimundo com calma — é a descrição narrativa do funcionamento do negócio que vai orientar todo o modelo de dados.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 como foi a entrevista com a cliente, quais dores ela relatou e como o analista traduziu isso em uma visão de solução.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quesito vale 1,0 ponto — o dobro. Destaque a diferença entre requisitos funcionais, não funcionais e as regras de negócio.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plano de ação 5W2H mostra como o projeto foi organizado: o quê, por quê, onde, quando, quem, como e quanto custa.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Apresente o logo, a paleta de cores e a tipografia do sistema. Mostre como isso aparece na interface.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a especificação detalhada de um caso de uso central, como 'Realizar pedido', com fluxo principal e alternativos.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Explique o diagrama de caso de uso (atores e funcionalidades) e o diagrama de classes (estrutura do sistema).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DER mostra as entidades e os relacionamentos. Destaque as chaves primárias e estrangeiras e a cardinalidade.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dicionário de dados detalha cada campo: nome, tipo, tamanho e restrições. Mostre uma tabela como exemplo.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o script de criação do banco. Comente as chaves estrangeiras e os tipos escolhidos.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o repositório real no navegador se possível. Comente a estrutura de pastas e o que o README documenta.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Quesito de 2,0 pontos. Mostre o manual do sistema: telas reais com passo a passo de uso para o usuário final.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Quesito de 2,0 pontos avaliado pela postura e clareza da banca. Use este slide como base para a demonstração ao vivo do sistema.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Agradeça a banca, reforce o aprendizado da equipe e abra para perguntas.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.jpeg" Type="http://schemas.openxmlformats.org/officeDocument/2006/relationships/image"/><Relationship Id="rId4" Target="https://github.com/AmandaRS123/Loja_de_doces.git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63500" y="-1714500"/>
            <a:ext cx="7239000" cy="7239000"/>
          </a:xfrm>
          <a:custGeom>
            <a:avLst/>
            <a:gdLst/>
            <a:ahLst/>
            <a:cxnLst/>
            <a:rect r="r" b="b" t="t" l="l"/>
            <a:pathLst>
              <a:path h="7239000" w="7239000">
                <a:moveTo>
                  <a:pt x="0" y="0"/>
                </a:moveTo>
                <a:lnTo>
                  <a:pt x="7239000" y="0"/>
                </a:lnTo>
                <a:lnTo>
                  <a:pt x="7239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6004"/>
            <a:ext cx="3776396" cy="19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0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ESCOLA TÉCNICA 3D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27694"/>
            <a:ext cx="9098394" cy="54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 TÉCNICO · DESENVOLVIMENTO DE SISTEMAS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78087"/>
            <a:ext cx="173418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3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DEFESA DE PROJETO · 1º SEMESTRE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73412"/>
            <a:ext cx="14351457" cy="120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5"/>
              </a:lnSpc>
            </a:pPr>
            <a:r>
              <a:rPr lang="en-US" b="true" sz="9157" spc="-29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Top Doces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26104"/>
            <a:ext cx="10544813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web para gestão de encomendas, produção e estoque de uma loja de doces.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38250" y="7724870"/>
            <a:ext cx="15811500" cy="9525"/>
            <a:chOff x="0" y="0"/>
            <a:chExt cx="21082000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82000" cy="12700"/>
            </a:xfrm>
            <a:custGeom>
              <a:avLst/>
              <a:gdLst/>
              <a:ahLst/>
              <a:cxnLst/>
              <a:rect r="r" b="b" t="t" l="l"/>
              <a:pathLst>
                <a:path h="127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5905477"/>
            <a:ext cx="248096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19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INTEGRANTES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191345"/>
            <a:ext cx="1147445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Amanda Ramos, Victória Silva, Esther Jardim, Eduarda Dutra, Pedro Ribeiro e Lukkas Carvalho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86695"/>
            <a:ext cx="133965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18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TURMA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458075"/>
            <a:ext cx="1564986" cy="85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5º P - 2026</a:t>
            </a: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MANHÃ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16898" y="7086695"/>
            <a:ext cx="184519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18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ORIENTADOR(A)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16898" y="7315200"/>
            <a:ext cx="10234651" cy="172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Prof.Bruno</a:t>
            </a:r>
          </a:p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Prof. Matheus</a:t>
            </a:r>
          </a:p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Profa. Denise</a:t>
            </a:r>
          </a:p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Prof. Otávio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154150" y="7105745"/>
            <a:ext cx="3114580" cy="3114580"/>
            <a:chOff x="0" y="0"/>
            <a:chExt cx="3175000" cy="317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3653" y="1054103"/>
            <a:ext cx="801178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31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ROTEIRO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3653" y="1529296"/>
            <a:ext cx="6424302" cy="58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b="true" sz="4440" spc="-96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Os 13 quesitos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4021" y="2537879"/>
            <a:ext cx="5101171" cy="639232"/>
            <a:chOff x="0" y="0"/>
            <a:chExt cx="6801561" cy="8523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62621" y="2753782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9821" y="2728379"/>
            <a:ext cx="42454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Minimundo do sistema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93415" y="2537879"/>
            <a:ext cx="5101171" cy="639232"/>
            <a:chOff x="0" y="0"/>
            <a:chExt cx="6801561" cy="8523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822015" y="2753782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79215" y="2728379"/>
            <a:ext cx="42454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Levantamento de requisitos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52818" y="2537879"/>
            <a:ext cx="5101171" cy="639232"/>
            <a:chOff x="0" y="0"/>
            <a:chExt cx="6801561" cy="852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181418" y="2753782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34021" y="3340103"/>
            <a:ext cx="5101171" cy="639232"/>
            <a:chOff x="0" y="0"/>
            <a:chExt cx="6801561" cy="852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862233" y="3555997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Plano de ação — 5W2H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2621" y="3555997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93415" y="3340103"/>
            <a:ext cx="5101171" cy="639232"/>
            <a:chOff x="0" y="0"/>
            <a:chExt cx="6801561" cy="8523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6822015" y="3555997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52818" y="3340103"/>
            <a:ext cx="5101171" cy="639232"/>
            <a:chOff x="0" y="0"/>
            <a:chExt cx="6801561" cy="8523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181418" y="3555997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4021" y="4142318"/>
            <a:ext cx="5101171" cy="639232"/>
            <a:chOff x="0" y="0"/>
            <a:chExt cx="6801561" cy="8523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811874" y="4333875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UML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2621" y="4358221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35446" y="351154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Especificação de caso de uso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93415" y="4142318"/>
            <a:ext cx="5101171" cy="639232"/>
            <a:chOff x="0" y="0"/>
            <a:chExt cx="6801561" cy="8523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6822015" y="4358221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79215" y="433281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de dados — DER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952818" y="4142318"/>
            <a:ext cx="5101171" cy="639232"/>
            <a:chOff x="0" y="0"/>
            <a:chExt cx="6801561" cy="8523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181418" y="4358221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38618" y="433281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Dicionário de dados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34021" y="4944532"/>
            <a:ext cx="5101171" cy="639232"/>
            <a:chOff x="0" y="0"/>
            <a:chExt cx="6801561" cy="8523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62621" y="5160435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19821" y="5135032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Script SQL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593415" y="4944532"/>
            <a:ext cx="5101171" cy="639232"/>
            <a:chOff x="0" y="0"/>
            <a:chExt cx="6801561" cy="8523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7171268" y="5160435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README e GitHub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22015" y="5160435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279215" y="351154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Identidade visual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952818" y="4944532"/>
            <a:ext cx="5101171" cy="639232"/>
            <a:chOff x="0" y="0"/>
            <a:chExt cx="6801561" cy="8523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181418" y="5160435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38618" y="5135032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Manual do sistema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34021" y="5746747"/>
            <a:ext cx="5101171" cy="639232"/>
            <a:chOff x="0" y="0"/>
            <a:chExt cx="6801561" cy="8523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462621" y="5962650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19821" y="5937247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Apresentação final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530671" y="2753782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Requisitos (RF/RNF) e Regras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226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A2F44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20753"/>
            <a:ext cx="456134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233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01</a:t>
            </a:r>
          </a:p>
          <a:p>
            <a:pPr algn="l">
              <a:lnSpc>
                <a:spcPts val="15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28725"/>
            <a:ext cx="6813982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Minimundo do sistema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4021" y="2069573"/>
            <a:ext cx="15819968" cy="7307266"/>
            <a:chOff x="0" y="0"/>
            <a:chExt cx="21093290" cy="97430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93303" cy="9742933"/>
            </a:xfrm>
            <a:custGeom>
              <a:avLst/>
              <a:gdLst/>
              <a:ahLst/>
              <a:cxnLst/>
              <a:rect r="r" b="b" t="t" l="l"/>
              <a:pathLst>
                <a:path h="9742933" w="21093303">
                  <a:moveTo>
                    <a:pt x="0" y="254254"/>
                  </a:moveTo>
                  <a:cubicBezTo>
                    <a:pt x="0" y="113792"/>
                    <a:pt x="113792" y="0"/>
                    <a:pt x="254254" y="0"/>
                  </a:cubicBezTo>
                  <a:lnTo>
                    <a:pt x="20839049" y="0"/>
                  </a:lnTo>
                  <a:cubicBezTo>
                    <a:pt x="20979512" y="0"/>
                    <a:pt x="21093303" y="113792"/>
                    <a:pt x="21093303" y="254254"/>
                  </a:cubicBezTo>
                  <a:lnTo>
                    <a:pt x="21093303" y="9488678"/>
                  </a:lnTo>
                  <a:cubicBezTo>
                    <a:pt x="21093303" y="9629140"/>
                    <a:pt x="20979512" y="9742932"/>
                    <a:pt x="20839049" y="9742932"/>
                  </a:cubicBezTo>
                  <a:lnTo>
                    <a:pt x="254254" y="9742932"/>
                  </a:lnTo>
                  <a:cubicBezTo>
                    <a:pt x="113792" y="9743059"/>
                    <a:pt x="0" y="9629140"/>
                    <a:pt x="0" y="94886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710271" y="2612498"/>
            <a:ext cx="406136" cy="96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8325" b="true">
                <a:solidFill>
                  <a:srgbClr val="EEF0FB"/>
                </a:solidFill>
                <a:latin typeface="Arial Bold"/>
                <a:ea typeface="Arial Bold"/>
                <a:cs typeface="Arial Bold"/>
                <a:sym typeface="Arial Bold"/>
              </a:rPr>
              <a:t>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01873" y="2972195"/>
            <a:ext cx="13684253" cy="537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loja de doces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comercializa produtos como bolos, balas, cupcakes e donuts. O sistema gerencia o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cadastro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de produtos e categorias, o controle de estoque, as entradas de produtos e o registro das vendas. Cada venda atualiza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automaticamente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o estoque, impedindo quantidades negativas. Os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usuários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possuem perfis de administrador ou vendedor, sendo que apenas os administradores podem realizar alterações administrativas. Além disso, o sistema oferece autenticação de usuários e um dashboard com informações gerenciais, permitindo maior organização, controle e apoio na tomada de decisões da loja.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9097" y="1025790"/>
            <a:ext cx="526956" cy="498472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561301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5613016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Levantamento de requisitos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653" y="2080155"/>
            <a:ext cx="261731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Entrevista com a cliente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653" y="2441048"/>
            <a:ext cx="8019355" cy="66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Conversamos com a proprietária do </a:t>
            </a:r>
            <a:r>
              <a:rPr lang="en-US" sz="1800" b="true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Loja de Doces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, que hoje controla encomendas em um caderno e sofre com a falta de organização.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653" y="3482978"/>
            <a:ext cx="210888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Dores identificadas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51" y="3815296"/>
            <a:ext cx="7766209" cy="111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937"/>
              </a:lnSpc>
              <a:buFont typeface="Arial"/>
              <a:buChar char="•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Pedidos anotados à mão, sem histórico.</a:t>
            </a:r>
          </a:p>
          <a:p>
            <a:pPr algn="l" marL="217170" indent="-108585" lvl="1">
              <a:lnSpc>
                <a:spcPts val="2937"/>
              </a:lnSpc>
              <a:buFont typeface="Arial"/>
              <a:buChar char="•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Problemas com controle de estoque dos produtos vendidos pela loja.</a:t>
            </a:r>
          </a:p>
          <a:p>
            <a:pPr algn="l" marL="217170" indent="-108585" lvl="1">
              <a:lnSpc>
                <a:spcPts val="2937"/>
              </a:lnSpc>
              <a:buFont typeface="Arial"/>
              <a:buChar char="•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Dificuldade para acompanhar prazos de produção.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83474" y="2069573"/>
            <a:ext cx="7470515" cy="7307266"/>
            <a:chOff x="0" y="0"/>
            <a:chExt cx="9960686" cy="97430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60611" cy="9743060"/>
            </a:xfrm>
            <a:custGeom>
              <a:avLst/>
              <a:gdLst/>
              <a:ahLst/>
              <a:cxnLst/>
              <a:rect r="r" b="b" t="t" l="l"/>
              <a:pathLst>
                <a:path h="9743060" w="9960611">
                  <a:moveTo>
                    <a:pt x="0" y="228854"/>
                  </a:moveTo>
                  <a:cubicBezTo>
                    <a:pt x="0" y="102489"/>
                    <a:pt x="102489" y="0"/>
                    <a:pt x="228854" y="0"/>
                  </a:cubicBezTo>
                  <a:lnTo>
                    <a:pt x="9731756" y="0"/>
                  </a:lnTo>
                  <a:cubicBezTo>
                    <a:pt x="9858122" y="0"/>
                    <a:pt x="9960611" y="102489"/>
                    <a:pt x="9960611" y="228854"/>
                  </a:cubicBezTo>
                  <a:lnTo>
                    <a:pt x="9960611" y="9514205"/>
                  </a:lnTo>
                  <a:cubicBezTo>
                    <a:pt x="9960611" y="9640570"/>
                    <a:pt x="9858122" y="9743060"/>
                    <a:pt x="9731756" y="9743060"/>
                  </a:cubicBezTo>
                  <a:lnTo>
                    <a:pt x="228854" y="9743060"/>
                  </a:lnTo>
                  <a:cubicBezTo>
                    <a:pt x="102489" y="9743059"/>
                    <a:pt x="0" y="9640570"/>
                    <a:pt x="0" y="9514205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002574" y="2307698"/>
            <a:ext cx="730062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17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VISÃO DO ANALISTA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2574" y="2642235"/>
            <a:ext cx="6832806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Um sistema web que centralize usuários, produtos, categorias, estoque e vendas da loja de doces.</a:t>
            </a:r>
          </a:p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O sistema deverá automatizar os processos de controle e fornecer informações gerenciais para auxiliar a administração.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97918" y="4800600"/>
            <a:ext cx="6683111" cy="575729"/>
            <a:chOff x="0" y="0"/>
            <a:chExt cx="8910815" cy="767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10828" cy="767588"/>
            </a:xfrm>
            <a:custGeom>
              <a:avLst/>
              <a:gdLst/>
              <a:ahLst/>
              <a:cxnLst/>
              <a:rect r="r" b="b" t="t" l="l"/>
              <a:pathLst>
                <a:path h="767588" w="891082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758428" y="0"/>
                  </a:lnTo>
                  <a:cubicBezTo>
                    <a:pt x="8842629" y="0"/>
                    <a:pt x="8910828" y="68199"/>
                    <a:pt x="8910828" y="152400"/>
                  </a:cubicBezTo>
                  <a:lnTo>
                    <a:pt x="8910828" y="615188"/>
                  </a:lnTo>
                  <a:cubicBezTo>
                    <a:pt x="8910828" y="699389"/>
                    <a:pt x="8842629" y="767588"/>
                    <a:pt x="8758428" y="767588"/>
                  </a:cubicBezTo>
                  <a:lnTo>
                    <a:pt x="152400" y="767588"/>
                  </a:lnTo>
                  <a:cubicBezTo>
                    <a:pt x="68199" y="767588"/>
                    <a:pt x="0" y="699389"/>
                    <a:pt x="0" y="615188"/>
                  </a:cubicBezTo>
                  <a:close/>
                </a:path>
              </a:pathLst>
            </a:custGeom>
            <a:solidFill>
              <a:srgbClr val="F4F5F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02574" y="4965697"/>
            <a:ext cx="21590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1976" y="4985809"/>
            <a:ext cx="560980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Centralizar o gerenciamento de produtos, estoque e vendas.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97918" y="5571596"/>
            <a:ext cx="6683111" cy="575729"/>
            <a:chOff x="0" y="0"/>
            <a:chExt cx="8910815" cy="7676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10828" cy="767588"/>
            </a:xfrm>
            <a:custGeom>
              <a:avLst/>
              <a:gdLst/>
              <a:ahLst/>
              <a:cxnLst/>
              <a:rect r="r" b="b" t="t" l="l"/>
              <a:pathLst>
                <a:path h="767588" w="891082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758428" y="0"/>
                  </a:lnTo>
                  <a:cubicBezTo>
                    <a:pt x="8842629" y="0"/>
                    <a:pt x="8910828" y="68199"/>
                    <a:pt x="8910828" y="152400"/>
                  </a:cubicBezTo>
                  <a:lnTo>
                    <a:pt x="8910828" y="615188"/>
                  </a:lnTo>
                  <a:cubicBezTo>
                    <a:pt x="8910828" y="699389"/>
                    <a:pt x="8842629" y="767588"/>
                    <a:pt x="8758428" y="767588"/>
                  </a:cubicBezTo>
                  <a:lnTo>
                    <a:pt x="152400" y="767588"/>
                  </a:lnTo>
                  <a:cubicBezTo>
                    <a:pt x="68199" y="767588"/>
                    <a:pt x="0" y="699389"/>
                    <a:pt x="0" y="615188"/>
                  </a:cubicBezTo>
                  <a:close/>
                </a:path>
              </a:pathLst>
            </a:custGeom>
            <a:solidFill>
              <a:srgbClr val="F4F5F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002574" y="5773207"/>
            <a:ext cx="21590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1976" y="5773207"/>
            <a:ext cx="553498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Automatizar a atualização e o controle do estoque.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97918" y="6352118"/>
            <a:ext cx="6683111" cy="575729"/>
            <a:chOff x="0" y="0"/>
            <a:chExt cx="8910815" cy="7676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10828" cy="767588"/>
            </a:xfrm>
            <a:custGeom>
              <a:avLst/>
              <a:gdLst/>
              <a:ahLst/>
              <a:cxnLst/>
              <a:rect r="r" b="b" t="t" l="l"/>
              <a:pathLst>
                <a:path h="767588" w="891082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758428" y="0"/>
                  </a:lnTo>
                  <a:cubicBezTo>
                    <a:pt x="8842629" y="0"/>
                    <a:pt x="8910828" y="68199"/>
                    <a:pt x="8910828" y="152400"/>
                  </a:cubicBezTo>
                  <a:lnTo>
                    <a:pt x="8910828" y="615188"/>
                  </a:lnTo>
                  <a:cubicBezTo>
                    <a:pt x="8910828" y="699389"/>
                    <a:pt x="8842629" y="767588"/>
                    <a:pt x="8758428" y="767588"/>
                  </a:cubicBezTo>
                  <a:lnTo>
                    <a:pt x="152400" y="767588"/>
                  </a:lnTo>
                  <a:cubicBezTo>
                    <a:pt x="68199" y="767588"/>
                    <a:pt x="0" y="699389"/>
                    <a:pt x="0" y="615188"/>
                  </a:cubicBezTo>
                  <a:close/>
                </a:path>
              </a:pathLst>
            </a:custGeom>
            <a:solidFill>
              <a:srgbClr val="F4F5F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002574" y="6491816"/>
            <a:ext cx="21590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1976" y="6491816"/>
            <a:ext cx="560980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Disponibilizar relatórios e indicadores através do dashboard.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43546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656079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6210512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Requisitos e Regras de Negócio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012423"/>
            <a:ext cx="5151968" cy="7364416"/>
            <a:chOff x="0" y="0"/>
            <a:chExt cx="6869290" cy="9819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69303" cy="9819260"/>
            </a:xfrm>
            <a:custGeom>
              <a:avLst/>
              <a:gdLst/>
              <a:ahLst/>
              <a:cxnLst/>
              <a:rect r="r" b="b" t="t" l="l"/>
              <a:pathLst>
                <a:path h="9819260" w="6869303">
                  <a:moveTo>
                    <a:pt x="0" y="203581"/>
                  </a:moveTo>
                  <a:cubicBezTo>
                    <a:pt x="0" y="91186"/>
                    <a:pt x="91186" y="0"/>
                    <a:pt x="203581" y="0"/>
                  </a:cubicBezTo>
                  <a:lnTo>
                    <a:pt x="6665722" y="0"/>
                  </a:lnTo>
                  <a:cubicBezTo>
                    <a:pt x="6778117" y="0"/>
                    <a:pt x="6869303" y="91186"/>
                    <a:pt x="6869303" y="203581"/>
                  </a:cubicBezTo>
                  <a:lnTo>
                    <a:pt x="6869303" y="9615678"/>
                  </a:lnTo>
                  <a:cubicBezTo>
                    <a:pt x="6869303" y="9728073"/>
                    <a:pt x="6778117" y="9819260"/>
                    <a:pt x="6665722" y="9819260"/>
                  </a:cubicBezTo>
                  <a:lnTo>
                    <a:pt x="203581" y="9819260"/>
                  </a:lnTo>
                  <a:cubicBezTo>
                    <a:pt x="91186" y="9819259"/>
                    <a:pt x="0" y="9728073"/>
                    <a:pt x="0" y="96156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595971" y="2355323"/>
            <a:ext cx="409984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FUNCIONAIS (RF)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5503" y="2590267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RF01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Cadastrar usuários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5503" y="2960294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RF02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Realizar login no sistema</a:t>
            </a: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2778" y="3330321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RF03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Controlar estoque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5503" y="3700834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RF04 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Registrar vendas.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5503" y="4051811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RF05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Gerar relatórios e informações no dashboard.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68021" y="2012423"/>
            <a:ext cx="5151968" cy="7364416"/>
            <a:chOff x="0" y="0"/>
            <a:chExt cx="6869290" cy="98192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69303" cy="9819260"/>
            </a:xfrm>
            <a:custGeom>
              <a:avLst/>
              <a:gdLst/>
              <a:ahLst/>
              <a:cxnLst/>
              <a:rect r="r" b="b" t="t" l="l"/>
              <a:pathLst>
                <a:path h="9819260" w="6869303">
                  <a:moveTo>
                    <a:pt x="0" y="203581"/>
                  </a:moveTo>
                  <a:cubicBezTo>
                    <a:pt x="0" y="91186"/>
                    <a:pt x="91186" y="0"/>
                    <a:pt x="203581" y="0"/>
                  </a:cubicBezTo>
                  <a:lnTo>
                    <a:pt x="6665722" y="0"/>
                  </a:lnTo>
                  <a:cubicBezTo>
                    <a:pt x="6778117" y="0"/>
                    <a:pt x="6869303" y="91186"/>
                    <a:pt x="6869303" y="203581"/>
                  </a:cubicBezTo>
                  <a:lnTo>
                    <a:pt x="6869303" y="9615678"/>
                  </a:lnTo>
                  <a:cubicBezTo>
                    <a:pt x="6869303" y="9728073"/>
                    <a:pt x="6778117" y="9819260"/>
                    <a:pt x="6665722" y="9819260"/>
                  </a:cubicBezTo>
                  <a:lnTo>
                    <a:pt x="203581" y="9819260"/>
                  </a:lnTo>
                  <a:cubicBezTo>
                    <a:pt x="91186" y="9819259"/>
                    <a:pt x="0" y="9728073"/>
                    <a:pt x="0" y="96156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929971" y="2355323"/>
            <a:ext cx="455191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NÃO FUNCIONAIS (RNF)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95270" y="2700757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RNF01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Possuir interface simples e intuitiva.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95270" y="3568208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RNF02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Acesso por login e senha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95270" y="3985860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RNF03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Interface responsiva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5270" y="4356230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RNF04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 Ser desenvolvido em ambiente web utilizando PHP e MySQL.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95270" y="5221557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RNF05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Garantir segurança das senhas através de criptografia.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06250" y="2016652"/>
            <a:ext cx="5143500" cy="7355948"/>
            <a:chOff x="0" y="0"/>
            <a:chExt cx="6858000" cy="98079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58000" cy="9807956"/>
            </a:xfrm>
            <a:custGeom>
              <a:avLst/>
              <a:gdLst/>
              <a:ahLst/>
              <a:cxnLst/>
              <a:rect r="r" b="b" t="t" l="l"/>
              <a:pathLst>
                <a:path h="9807956" w="6858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654800" y="0"/>
                  </a:lnTo>
                  <a:cubicBezTo>
                    <a:pt x="6767068" y="0"/>
                    <a:pt x="6858000" y="90932"/>
                    <a:pt x="6858000" y="203200"/>
                  </a:cubicBezTo>
                  <a:lnTo>
                    <a:pt x="6858000" y="9604756"/>
                  </a:lnTo>
                  <a:cubicBezTo>
                    <a:pt x="6858000" y="9717025"/>
                    <a:pt x="6767068" y="9807956"/>
                    <a:pt x="6654800" y="9807956"/>
                  </a:cubicBezTo>
                  <a:lnTo>
                    <a:pt x="203200" y="9807956"/>
                  </a:lnTo>
                  <a:cubicBezTo>
                    <a:pt x="90932" y="9807956"/>
                    <a:pt x="0" y="9717025"/>
                    <a:pt x="0" y="9604756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25036" y="2286533"/>
            <a:ext cx="380523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REGRAS DE NEGÓCIO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5036" y="2581808"/>
            <a:ext cx="450405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RN01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Não permitir estoque negativo.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25036" y="3111381"/>
            <a:ext cx="450405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RN02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e-mail do usuário deve ser único no sistema.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55503" y="3914631"/>
            <a:ext cx="450405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RN03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usuários ativos podem acessar o sistema.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5503" y="4805403"/>
            <a:ext cx="450405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RN04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administradores podem realizar alterações administrativas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2778" y="4850464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RF06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Organizar produtos por categorias.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4165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20753"/>
            <a:ext cx="48950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25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28725"/>
            <a:ext cx="4774565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Plano de ação — 5W2H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069573"/>
            <a:ext cx="7818968" cy="1694526"/>
            <a:chOff x="0" y="0"/>
            <a:chExt cx="10425290" cy="2259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595971" y="2374373"/>
            <a:ext cx="68273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48521" y="2374373"/>
            <a:ext cx="6477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O quê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48521" y="2791320"/>
            <a:ext cx="4498181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Desenvolver o sistema de gestão da loja de doces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5021" y="2069573"/>
            <a:ext cx="7818968" cy="1694526"/>
            <a:chOff x="0" y="0"/>
            <a:chExt cx="10425290" cy="2259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596971" y="2374373"/>
            <a:ext cx="58970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49521" y="2374373"/>
            <a:ext cx="8510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Por quê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49521" y="2791320"/>
            <a:ext cx="5068186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Para automatizar processos e melhorar o controle de produtos, vendas e estoque.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4021" y="3946131"/>
            <a:ext cx="7818968" cy="1694526"/>
            <a:chOff x="0" y="0"/>
            <a:chExt cx="10425290" cy="2259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595971" y="4250931"/>
            <a:ext cx="85375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Where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48521" y="4250931"/>
            <a:ext cx="5842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Onde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99796" y="4677404"/>
            <a:ext cx="4053326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Laboratório de informática e na loja Top Doces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35021" y="3946131"/>
            <a:ext cx="7818968" cy="1694526"/>
            <a:chOff x="0" y="0"/>
            <a:chExt cx="10425290" cy="2259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596971" y="4250931"/>
            <a:ext cx="760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49521" y="4250931"/>
            <a:ext cx="242917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Quando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49521" y="4592574"/>
            <a:ext cx="4166994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1º semestre de 2026 — fev. a jun. Para utilização diária da empresa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34021" y="5822690"/>
            <a:ext cx="7818968" cy="1694526"/>
            <a:chOff x="0" y="0"/>
            <a:chExt cx="10425290" cy="2259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595971" y="6127490"/>
            <a:ext cx="60494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48521" y="6127490"/>
            <a:ext cx="6478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Quem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48521" y="6556115"/>
            <a:ext cx="3656924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Equipe de 6 pessoas e administradores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35021" y="5822690"/>
            <a:ext cx="7818968" cy="1694526"/>
            <a:chOff x="0" y="0"/>
            <a:chExt cx="10425290" cy="2259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9596971" y="6127490"/>
            <a:ext cx="58970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How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49521" y="6127490"/>
            <a:ext cx="14402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Como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49521" y="6537065"/>
            <a:ext cx="4701473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HTML, PHP e MySQL, com versionamento no GitHub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8250" y="7703477"/>
            <a:ext cx="15811500" cy="1669123"/>
            <a:chOff x="0" y="0"/>
            <a:chExt cx="21082000" cy="22254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082000" cy="2225548"/>
            </a:xfrm>
            <a:custGeom>
              <a:avLst/>
              <a:gdLst/>
              <a:ahLst/>
              <a:cxnLst/>
              <a:rect r="r" b="b" t="t" l="l"/>
              <a:pathLst>
                <a:path h="2225548" w="21082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878800" y="0"/>
                  </a:lnTo>
                  <a:cubicBezTo>
                    <a:pt x="20991068" y="0"/>
                    <a:pt x="21082000" y="90932"/>
                    <a:pt x="21082000" y="203200"/>
                  </a:cubicBezTo>
                  <a:lnTo>
                    <a:pt x="21082000" y="2022348"/>
                  </a:lnTo>
                  <a:cubicBezTo>
                    <a:pt x="21082000" y="2134616"/>
                    <a:pt x="20991068" y="2225548"/>
                    <a:pt x="20878800" y="2225548"/>
                  </a:cubicBezTo>
                  <a:lnTo>
                    <a:pt x="203200" y="2225548"/>
                  </a:lnTo>
                  <a:cubicBezTo>
                    <a:pt x="90932" y="2225548"/>
                    <a:pt x="0" y="2134616"/>
                    <a:pt x="0" y="2022348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587503" y="7995580"/>
            <a:ext cx="141229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How much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520498" y="8005105"/>
            <a:ext cx="16230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Quanto custa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96380" y="8395630"/>
            <a:ext cx="6561372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custo depende das ferramentas usadas, mas serão utilizadas ferramentas gratuitas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2C1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021" y="2069573"/>
            <a:ext cx="7771343" cy="6007627"/>
            <a:chOff x="0" y="0"/>
            <a:chExt cx="10361790" cy="8010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1803" cy="8010272"/>
            </a:xfrm>
            <a:custGeom>
              <a:avLst/>
              <a:gdLst/>
              <a:ahLst/>
              <a:cxnLst/>
              <a:rect r="r" b="b" t="t" l="l"/>
              <a:pathLst>
                <a:path h="8010272" w="10361803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10209149" y="0"/>
                  </a:lnTo>
                  <a:cubicBezTo>
                    <a:pt x="10293477" y="0"/>
                    <a:pt x="10361803" y="68326"/>
                    <a:pt x="10361803" y="152654"/>
                  </a:cubicBezTo>
                  <a:lnTo>
                    <a:pt x="10361803" y="7857617"/>
                  </a:lnTo>
                  <a:cubicBezTo>
                    <a:pt x="10361803" y="7941945"/>
                    <a:pt x="10293477" y="8010272"/>
                    <a:pt x="10209149" y="8010272"/>
                  </a:cubicBezTo>
                  <a:lnTo>
                    <a:pt x="152654" y="8010272"/>
                  </a:lnTo>
                  <a:cubicBezTo>
                    <a:pt x="68326" y="8010144"/>
                    <a:pt x="0" y="7941818"/>
                    <a:pt x="0" y="7857617"/>
                  </a:cubicBezTo>
                  <a:close/>
                </a:path>
              </a:pathLst>
            </a:custGeom>
            <a:blipFill>
              <a:blip r:embed="rId4"/>
              <a:stretch>
                <a:fillRect l="-18140" t="-7721" r="-27581" b="-14173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63653" y="8317440"/>
            <a:ext cx="8488366" cy="19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b="true" sz="1248" spc="161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PALETA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8250" y="8629650"/>
            <a:ext cx="1840706" cy="742950"/>
            <a:chOff x="0" y="0"/>
            <a:chExt cx="2454275" cy="990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EFC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212306" y="8629650"/>
            <a:ext cx="1840706" cy="742950"/>
            <a:chOff x="0" y="0"/>
            <a:chExt cx="2454275" cy="990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EF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86362" y="8629650"/>
            <a:ext cx="1840706" cy="742950"/>
            <a:chOff x="0" y="0"/>
            <a:chExt cx="2454275" cy="99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B6F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60419" y="8629650"/>
            <a:ext cx="1840706" cy="742950"/>
            <a:chOff x="0" y="0"/>
            <a:chExt cx="2454275" cy="990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3C2F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487957" y="2069573"/>
            <a:ext cx="7771343" cy="7771962"/>
            <a:chOff x="0" y="0"/>
            <a:chExt cx="10361790" cy="103626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61803" cy="10362522"/>
            </a:xfrm>
            <a:custGeom>
              <a:avLst/>
              <a:gdLst/>
              <a:ahLst/>
              <a:cxnLst/>
              <a:rect r="r" b="b" t="t" l="l"/>
              <a:pathLst>
                <a:path h="10362522" w="10361803">
                  <a:moveTo>
                    <a:pt x="0" y="162227"/>
                  </a:moveTo>
                  <a:cubicBezTo>
                    <a:pt x="0" y="72671"/>
                    <a:pt x="68326" y="0"/>
                    <a:pt x="152527" y="0"/>
                  </a:cubicBezTo>
                  <a:lnTo>
                    <a:pt x="10209276" y="0"/>
                  </a:lnTo>
                  <a:cubicBezTo>
                    <a:pt x="10293604" y="0"/>
                    <a:pt x="10361803" y="72671"/>
                    <a:pt x="10361803" y="162227"/>
                  </a:cubicBezTo>
                  <a:lnTo>
                    <a:pt x="10361803" y="10200295"/>
                  </a:lnTo>
                  <a:cubicBezTo>
                    <a:pt x="10361803" y="10289986"/>
                    <a:pt x="10293477" y="10362522"/>
                    <a:pt x="10209276" y="10362522"/>
                  </a:cubicBezTo>
                  <a:lnTo>
                    <a:pt x="152527" y="10362522"/>
                  </a:lnTo>
                  <a:cubicBezTo>
                    <a:pt x="68326" y="10362654"/>
                    <a:pt x="0" y="10289985"/>
                    <a:pt x="0" y="10200295"/>
                  </a:cubicBezTo>
                  <a:close/>
                </a:path>
              </a:pathLst>
            </a:custGeom>
            <a:blipFill>
              <a:blip r:embed="rId5"/>
              <a:stretch>
                <a:fillRect l="-35678" t="-16700" r="-61334" b="-10351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212306" y="8633889"/>
            <a:ext cx="1840706" cy="742950"/>
            <a:chOff x="0" y="0"/>
            <a:chExt cx="2454275" cy="99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A7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101853" y="930278"/>
            <a:ext cx="576654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01853" y="1219200"/>
            <a:ext cx="5766540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Identidade visual do sistema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8250" y="94165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604870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5759873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Especificação de caso de uso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012423"/>
            <a:ext cx="15819968" cy="7364416"/>
            <a:chOff x="0" y="0"/>
            <a:chExt cx="21093290" cy="9819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93303" cy="9819133"/>
            </a:xfrm>
            <a:custGeom>
              <a:avLst/>
              <a:gdLst/>
              <a:ahLst/>
              <a:cxnLst/>
              <a:rect r="r" b="b" t="t" l="l"/>
              <a:pathLst>
                <a:path h="9819133" w="21093303">
                  <a:moveTo>
                    <a:pt x="0" y="228854"/>
                  </a:moveTo>
                  <a:cubicBezTo>
                    <a:pt x="0" y="102489"/>
                    <a:pt x="102489" y="0"/>
                    <a:pt x="228854" y="0"/>
                  </a:cubicBezTo>
                  <a:lnTo>
                    <a:pt x="20864449" y="0"/>
                  </a:lnTo>
                  <a:cubicBezTo>
                    <a:pt x="20990813" y="0"/>
                    <a:pt x="21093303" y="102489"/>
                    <a:pt x="21093303" y="228854"/>
                  </a:cubicBezTo>
                  <a:lnTo>
                    <a:pt x="21093303" y="9590278"/>
                  </a:lnTo>
                  <a:cubicBezTo>
                    <a:pt x="21093303" y="9716643"/>
                    <a:pt x="20990813" y="9819132"/>
                    <a:pt x="20864449" y="9819132"/>
                  </a:cubicBezTo>
                  <a:lnTo>
                    <a:pt x="228854" y="9819132"/>
                  </a:lnTo>
                  <a:cubicBezTo>
                    <a:pt x="102489" y="9819259"/>
                    <a:pt x="0" y="9716770"/>
                    <a:pt x="0" y="95902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748371" y="2213505"/>
            <a:ext cx="783442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UC02 — Realizar venda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8371" y="2899305"/>
            <a:ext cx="17431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Ator</a:t>
            </a:r>
            <a:r>
              <a:rPr lang="en-US" sz="1599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Vendedor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46688" y="2899305"/>
            <a:ext cx="342730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Pré-condição</a:t>
            </a:r>
            <a:r>
              <a:rPr lang="en-US" sz="1599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vendedor deve estar autenticado no sistema.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0990" y="2899305"/>
            <a:ext cx="305854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Pós</a:t>
            </a:r>
            <a:r>
              <a:rPr lang="en-US" sz="1599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1599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venda é armazenada</a:t>
            </a:r>
            <a:r>
              <a:rPr lang="en-US" sz="1599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banco de dados.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8371" y="3645960"/>
            <a:ext cx="22350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207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FLUXO PRINCIPAL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48371" y="4074585"/>
            <a:ext cx="8265719" cy="185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vendedor acessa o módulo de vendas.</a:t>
            </a:r>
          </a:p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vendedor seleciona os produtos desejados.</a:t>
            </a:r>
          </a:p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sistema exibe os produtos selecionados.</a:t>
            </a:r>
          </a:p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vendedor confirma a venda.</a:t>
            </a:r>
          </a:p>
          <a:p>
            <a:pPr algn="l" marL="217170" indent="-108585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sistema registra a venda e atualiza automaticamente o estoque.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03012" y="3436934"/>
            <a:ext cx="296127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207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FLUXOS ALTERNATIVOS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03012" y="3872053"/>
            <a:ext cx="6316856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672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FA01 —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Produto sem estoque suficiente - O sistema exibe uma mensagem informando estoque insuficiente.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03012" y="4810330"/>
            <a:ext cx="6316856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672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FA02 —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Cliente não cadastrado - O vendedor opta por realizar a venda sem vincular um cliente.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03012" y="5766530"/>
            <a:ext cx="6316856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672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FA04 —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Produto inválido ou inexistente - O sistema impede a inclusão do item na venda.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56276" y="3099648"/>
            <a:ext cx="3544323" cy="5747065"/>
          </a:xfrm>
          <a:custGeom>
            <a:avLst/>
            <a:gdLst/>
            <a:ahLst/>
            <a:cxnLst/>
            <a:rect r="r" b="b" t="t" l="l"/>
            <a:pathLst>
              <a:path h="5747065" w="3544323">
                <a:moveTo>
                  <a:pt x="0" y="0"/>
                </a:moveTo>
                <a:lnTo>
                  <a:pt x="3544323" y="0"/>
                </a:lnTo>
                <a:lnTo>
                  <a:pt x="3544323" y="5747065"/>
                </a:lnTo>
                <a:lnTo>
                  <a:pt x="0" y="5747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039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91118" y="3099648"/>
            <a:ext cx="3547305" cy="6374042"/>
          </a:xfrm>
          <a:custGeom>
            <a:avLst/>
            <a:gdLst/>
            <a:ahLst/>
            <a:cxnLst/>
            <a:rect r="r" b="b" t="t" l="l"/>
            <a:pathLst>
              <a:path h="6374042" w="3547305">
                <a:moveTo>
                  <a:pt x="0" y="0"/>
                </a:moveTo>
                <a:lnTo>
                  <a:pt x="3547305" y="0"/>
                </a:lnTo>
                <a:lnTo>
                  <a:pt x="3547305" y="6374042"/>
                </a:lnTo>
                <a:lnTo>
                  <a:pt x="0" y="6374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9859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66498" y="2536111"/>
            <a:ext cx="6175568" cy="7471260"/>
          </a:xfrm>
          <a:custGeom>
            <a:avLst/>
            <a:gdLst/>
            <a:ahLst/>
            <a:cxnLst/>
            <a:rect r="r" b="b" t="t" l="l"/>
            <a:pathLst>
              <a:path h="7471260" w="6175568">
                <a:moveTo>
                  <a:pt x="0" y="0"/>
                </a:moveTo>
                <a:lnTo>
                  <a:pt x="6175568" y="0"/>
                </a:lnTo>
                <a:lnTo>
                  <a:pt x="6175568" y="7471260"/>
                </a:lnTo>
                <a:lnTo>
                  <a:pt x="0" y="7471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01853" y="930278"/>
            <a:ext cx="345945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1853" y="1219200"/>
            <a:ext cx="3459451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UML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3653" y="2080155"/>
            <a:ext cx="344646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Diagrama de Caso de Uso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67598" y="2080155"/>
            <a:ext cx="281056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Diagrama de Classes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11250" y="3779044"/>
            <a:ext cx="3238500" cy="579968"/>
            <a:chOff x="0" y="0"/>
            <a:chExt cx="4318000" cy="773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0" cy="773303"/>
            </a:xfrm>
            <a:custGeom>
              <a:avLst/>
              <a:gdLst/>
              <a:ahLst/>
              <a:cxnLst/>
              <a:rect r="r" b="b" t="t" l="l"/>
              <a:pathLst>
                <a:path h="773303" w="4318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165600" y="0"/>
                  </a:lnTo>
                  <a:cubicBezTo>
                    <a:pt x="4249801" y="0"/>
                    <a:pt x="4318000" y="68199"/>
                    <a:pt x="4318000" y="152400"/>
                  </a:cubicBezTo>
                  <a:lnTo>
                    <a:pt x="4318000" y="620903"/>
                  </a:lnTo>
                  <a:cubicBezTo>
                    <a:pt x="4318000" y="705104"/>
                    <a:pt x="4249801" y="773303"/>
                    <a:pt x="4165600" y="773303"/>
                  </a:cubicBezTo>
                  <a:lnTo>
                    <a:pt x="152400" y="773303"/>
                  </a:lnTo>
                  <a:cubicBezTo>
                    <a:pt x="68199" y="773303"/>
                    <a:pt x="0" y="705104"/>
                    <a:pt x="0" y="620903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07021" y="4841615"/>
            <a:ext cx="3246968" cy="605371"/>
            <a:chOff x="0" y="0"/>
            <a:chExt cx="4329290" cy="8071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29303" cy="807212"/>
            </a:xfrm>
            <a:custGeom>
              <a:avLst/>
              <a:gdLst/>
              <a:ahLst/>
              <a:cxnLst/>
              <a:rect r="r" b="b" t="t" l="l"/>
              <a:pathLst>
                <a:path h="807212" w="4329303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4174744" y="0"/>
                  </a:lnTo>
                  <a:cubicBezTo>
                    <a:pt x="4260088" y="0"/>
                    <a:pt x="4329303" y="69215"/>
                    <a:pt x="4329303" y="154559"/>
                  </a:cubicBezTo>
                  <a:lnTo>
                    <a:pt x="4329303" y="652653"/>
                  </a:lnTo>
                  <a:cubicBezTo>
                    <a:pt x="4329303" y="737997"/>
                    <a:pt x="4260088" y="807212"/>
                    <a:pt x="4174744" y="807212"/>
                  </a:cubicBezTo>
                  <a:lnTo>
                    <a:pt x="154559" y="807212"/>
                  </a:lnTo>
                  <a:cubicBezTo>
                    <a:pt x="69215" y="807212"/>
                    <a:pt x="0" y="737997"/>
                    <a:pt x="0" y="652653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807021" y="5925341"/>
            <a:ext cx="3246968" cy="605371"/>
            <a:chOff x="0" y="0"/>
            <a:chExt cx="4329290" cy="8071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29303" cy="807212"/>
            </a:xfrm>
            <a:custGeom>
              <a:avLst/>
              <a:gdLst/>
              <a:ahLst/>
              <a:cxnLst/>
              <a:rect r="r" b="b" t="t" l="l"/>
              <a:pathLst>
                <a:path h="807212" w="4329303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4174744" y="0"/>
                  </a:lnTo>
                  <a:cubicBezTo>
                    <a:pt x="4260088" y="0"/>
                    <a:pt x="4329303" y="69215"/>
                    <a:pt x="4329303" y="154559"/>
                  </a:cubicBezTo>
                  <a:lnTo>
                    <a:pt x="4329303" y="652653"/>
                  </a:lnTo>
                  <a:cubicBezTo>
                    <a:pt x="4329303" y="737997"/>
                    <a:pt x="4260088" y="807212"/>
                    <a:pt x="4174744" y="807212"/>
                  </a:cubicBezTo>
                  <a:lnTo>
                    <a:pt x="154559" y="807212"/>
                  </a:lnTo>
                  <a:cubicBezTo>
                    <a:pt x="69215" y="807212"/>
                    <a:pt x="0" y="737997"/>
                    <a:pt x="0" y="652653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807021" y="7009076"/>
            <a:ext cx="3246968" cy="605371"/>
            <a:chOff x="0" y="0"/>
            <a:chExt cx="4329290" cy="80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29303" cy="807212"/>
            </a:xfrm>
            <a:custGeom>
              <a:avLst/>
              <a:gdLst/>
              <a:ahLst/>
              <a:cxnLst/>
              <a:rect r="r" b="b" t="t" l="l"/>
              <a:pathLst>
                <a:path h="807212" w="4329303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4174744" y="0"/>
                  </a:lnTo>
                  <a:cubicBezTo>
                    <a:pt x="4260088" y="0"/>
                    <a:pt x="4329303" y="69215"/>
                    <a:pt x="4329303" y="154559"/>
                  </a:cubicBezTo>
                  <a:lnTo>
                    <a:pt x="4329303" y="652653"/>
                  </a:lnTo>
                  <a:cubicBezTo>
                    <a:pt x="4329303" y="737997"/>
                    <a:pt x="4260088" y="807212"/>
                    <a:pt x="4174744" y="807212"/>
                  </a:cubicBezTo>
                  <a:lnTo>
                    <a:pt x="154559" y="807212"/>
                  </a:lnTo>
                  <a:cubicBezTo>
                    <a:pt x="69215" y="807212"/>
                    <a:pt x="0" y="737997"/>
                    <a:pt x="0" y="652653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52958" y="2177258"/>
            <a:ext cx="6485085" cy="3748083"/>
          </a:xfrm>
          <a:custGeom>
            <a:avLst/>
            <a:gdLst/>
            <a:ahLst/>
            <a:cxnLst/>
            <a:rect r="r" b="b" t="t" l="l"/>
            <a:pathLst>
              <a:path h="3748083" w="6485085">
                <a:moveTo>
                  <a:pt x="0" y="0"/>
                </a:moveTo>
                <a:lnTo>
                  <a:pt x="6485085" y="0"/>
                </a:lnTo>
                <a:lnTo>
                  <a:pt x="6485085" y="3748083"/>
                </a:lnTo>
                <a:lnTo>
                  <a:pt x="0" y="3748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62732" y="5925341"/>
            <a:ext cx="6475311" cy="3498083"/>
          </a:xfrm>
          <a:custGeom>
            <a:avLst/>
            <a:gdLst/>
            <a:ahLst/>
            <a:cxnLst/>
            <a:rect r="r" b="b" t="t" l="l"/>
            <a:pathLst>
              <a:path h="3498083" w="6475311">
                <a:moveTo>
                  <a:pt x="0" y="0"/>
                </a:moveTo>
                <a:lnTo>
                  <a:pt x="6475311" y="0"/>
                </a:lnTo>
                <a:lnTo>
                  <a:pt x="6475311" y="3498082"/>
                </a:lnTo>
                <a:lnTo>
                  <a:pt x="0" y="3498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75944" y="4517765"/>
            <a:ext cx="5892105" cy="2837376"/>
          </a:xfrm>
          <a:custGeom>
            <a:avLst/>
            <a:gdLst/>
            <a:ahLst/>
            <a:cxnLst/>
            <a:rect r="r" b="b" t="t" l="l"/>
            <a:pathLst>
              <a:path h="2837376" w="5892105">
                <a:moveTo>
                  <a:pt x="0" y="0"/>
                </a:moveTo>
                <a:lnTo>
                  <a:pt x="5892105" y="0"/>
                </a:lnTo>
                <a:lnTo>
                  <a:pt x="5892105" y="2837376"/>
                </a:lnTo>
                <a:lnTo>
                  <a:pt x="0" y="2837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9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01853" y="930278"/>
            <a:ext cx="607358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01853" y="1219200"/>
            <a:ext cx="5622767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de dados — DER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65253" y="3956847"/>
            <a:ext cx="111797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Categoria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61535" y="4498715"/>
            <a:ext cx="233793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1 : 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73721" y="5032115"/>
            <a:ext cx="87614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Produto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50163" y="5582441"/>
            <a:ext cx="17606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1 : 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26844" y="6666176"/>
            <a:ext cx="140732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N :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65253" y="7178411"/>
            <a:ext cx="68606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Venda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65253" y="6113726"/>
            <a:ext cx="128322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Venda_Item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8250" y="9226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6718" y="2012423"/>
            <a:ext cx="15807271" cy="7358505"/>
            <a:chOff x="0" y="0"/>
            <a:chExt cx="21093290" cy="98192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93303" cy="9819133"/>
            </a:xfrm>
            <a:custGeom>
              <a:avLst/>
              <a:gdLst/>
              <a:ahLst/>
              <a:cxnLst/>
              <a:rect r="r" b="b" t="t" l="l"/>
              <a:pathLst>
                <a:path h="9819133" w="21093303">
                  <a:moveTo>
                    <a:pt x="0" y="228854"/>
                  </a:moveTo>
                  <a:cubicBezTo>
                    <a:pt x="0" y="102489"/>
                    <a:pt x="102489" y="0"/>
                    <a:pt x="228854" y="0"/>
                  </a:cubicBezTo>
                  <a:lnTo>
                    <a:pt x="20864449" y="0"/>
                  </a:lnTo>
                  <a:cubicBezTo>
                    <a:pt x="20990813" y="0"/>
                    <a:pt x="21093303" y="102489"/>
                    <a:pt x="21093303" y="228854"/>
                  </a:cubicBezTo>
                  <a:lnTo>
                    <a:pt x="21093303" y="9590278"/>
                  </a:lnTo>
                  <a:cubicBezTo>
                    <a:pt x="21093303" y="9716643"/>
                    <a:pt x="20990813" y="9819132"/>
                    <a:pt x="20864449" y="9819132"/>
                  </a:cubicBezTo>
                  <a:lnTo>
                    <a:pt x="228854" y="9819132"/>
                  </a:lnTo>
                  <a:cubicBezTo>
                    <a:pt x="102489" y="9819259"/>
                    <a:pt x="0" y="9716770"/>
                    <a:pt x="0" y="95902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6718" y="2025120"/>
            <a:ext cx="15794565" cy="643471"/>
            <a:chOff x="0" y="0"/>
            <a:chExt cx="21059419" cy="8579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59394" cy="858012"/>
            </a:xfrm>
            <a:custGeom>
              <a:avLst/>
              <a:gdLst/>
              <a:ahLst/>
              <a:cxnLst/>
              <a:rect r="r" b="b" t="t" l="l"/>
              <a:pathLst>
                <a:path h="858012" w="21059394">
                  <a:moveTo>
                    <a:pt x="0" y="0"/>
                  </a:moveTo>
                  <a:lnTo>
                    <a:pt x="21059394" y="0"/>
                  </a:lnTo>
                  <a:lnTo>
                    <a:pt x="21059394" y="858012"/>
                  </a:lnTo>
                  <a:lnTo>
                    <a:pt x="0" y="858012"/>
                  </a:ln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6718" y="2668591"/>
            <a:ext cx="4307548" cy="533400"/>
            <a:chOff x="0" y="0"/>
            <a:chExt cx="5743397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43448" cy="711200"/>
            </a:xfrm>
            <a:custGeom>
              <a:avLst/>
              <a:gdLst/>
              <a:ahLst/>
              <a:cxnLst/>
              <a:rect r="r" b="b" t="t" l="l"/>
              <a:pathLst>
                <a:path h="7112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554266" y="2668591"/>
            <a:ext cx="3589734" cy="533400"/>
            <a:chOff x="0" y="0"/>
            <a:chExt cx="4786312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86249" cy="711200"/>
            </a:xfrm>
            <a:custGeom>
              <a:avLst/>
              <a:gdLst/>
              <a:ahLst/>
              <a:cxnLst/>
              <a:rect r="r" b="b" t="t" l="l"/>
              <a:pathLst>
                <a:path h="7112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0" y="2668591"/>
            <a:ext cx="2871654" cy="533400"/>
            <a:chOff x="0" y="0"/>
            <a:chExt cx="3828872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28923" cy="711200"/>
            </a:xfrm>
            <a:custGeom>
              <a:avLst/>
              <a:gdLst/>
              <a:ahLst/>
              <a:cxnLst/>
              <a:rect r="r" b="b" t="t" l="l"/>
              <a:pathLst>
                <a:path h="7112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15654" y="2668591"/>
            <a:ext cx="5025628" cy="533400"/>
            <a:chOff x="0" y="0"/>
            <a:chExt cx="6700838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0774" cy="711200"/>
            </a:xfrm>
            <a:custGeom>
              <a:avLst/>
              <a:gdLst/>
              <a:ahLst/>
              <a:cxnLst/>
              <a:rect r="r" b="b" t="t" l="l"/>
              <a:pathLst>
                <a:path h="7112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6718" y="3201991"/>
            <a:ext cx="4307548" cy="9525"/>
            <a:chOff x="0" y="0"/>
            <a:chExt cx="5743397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554266" y="3201991"/>
            <a:ext cx="3589734" cy="9525"/>
            <a:chOff x="0" y="0"/>
            <a:chExt cx="4786312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3201991"/>
            <a:ext cx="2871654" cy="9525"/>
            <a:chOff x="0" y="0"/>
            <a:chExt cx="3828872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5654" y="3201991"/>
            <a:ext cx="5025628" cy="9525"/>
            <a:chOff x="0" y="0"/>
            <a:chExt cx="6700838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46718" y="3794655"/>
            <a:ext cx="4307548" cy="9525"/>
            <a:chOff x="0" y="0"/>
            <a:chExt cx="5743397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554266" y="3794655"/>
            <a:ext cx="3589734" cy="9525"/>
            <a:chOff x="0" y="0"/>
            <a:chExt cx="4786312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0" y="3794655"/>
            <a:ext cx="2871654" cy="9525"/>
            <a:chOff x="0" y="0"/>
            <a:chExt cx="3828872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015654" y="3794655"/>
            <a:ext cx="5025628" cy="9525"/>
            <a:chOff x="0" y="0"/>
            <a:chExt cx="6700838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6718" y="4387320"/>
            <a:ext cx="4307548" cy="9525"/>
            <a:chOff x="0" y="0"/>
            <a:chExt cx="5743397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554266" y="4387320"/>
            <a:ext cx="3589734" cy="9525"/>
            <a:chOff x="0" y="0"/>
            <a:chExt cx="4786312" cy="12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0" y="4387320"/>
            <a:ext cx="2871654" cy="9525"/>
            <a:chOff x="0" y="0"/>
            <a:chExt cx="3828872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015654" y="4387320"/>
            <a:ext cx="5025628" cy="9525"/>
            <a:chOff x="0" y="0"/>
            <a:chExt cx="6700838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46718" y="4979984"/>
            <a:ext cx="4307548" cy="9525"/>
            <a:chOff x="0" y="0"/>
            <a:chExt cx="5743397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554266" y="4979984"/>
            <a:ext cx="3589734" cy="9525"/>
            <a:chOff x="0" y="0"/>
            <a:chExt cx="4786312" cy="12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0" y="4979984"/>
            <a:ext cx="2871654" cy="9525"/>
            <a:chOff x="0" y="0"/>
            <a:chExt cx="3828872" cy="12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015654" y="4979984"/>
            <a:ext cx="5025628" cy="9525"/>
            <a:chOff x="0" y="0"/>
            <a:chExt cx="6700838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2101853" y="930278"/>
            <a:ext cx="402407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09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101853" y="1219200"/>
            <a:ext cx="4024074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Dicionário de dados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95971" y="2221973"/>
            <a:ext cx="17399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Tabela: Produto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95971" y="2827334"/>
            <a:ext cx="7748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Campo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808269" y="2827334"/>
            <a:ext cx="48244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Tipo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98003" y="2827334"/>
            <a:ext cx="5335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Tam.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69657" y="2827334"/>
            <a:ext cx="109288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Descrição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95971" y="3388252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808269" y="3378727"/>
            <a:ext cx="31894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98003" y="3378727"/>
            <a:ext cx="24498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269657" y="3378727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PK, auto incremento - Identificador único do produto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95971" y="3980917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categoria_id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808269" y="3971392"/>
            <a:ext cx="318942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269657" y="3971392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FK, NOT NULL - Referência à categoria do produto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95971" y="4573591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nome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808269" y="4564066"/>
            <a:ext cx="31894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269657" y="4564066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NOT NULL - Nome do produto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95971" y="5166255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descricao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808269" y="5156730"/>
            <a:ext cx="318942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269657" y="5156730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NULL - Descrição ou detalhes do produto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46718" y="5613930"/>
            <a:ext cx="15807271" cy="826873"/>
            <a:chOff x="0" y="0"/>
            <a:chExt cx="62985876" cy="32947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985886" cy="3294740"/>
            </a:xfrm>
            <a:custGeom>
              <a:avLst/>
              <a:gdLst/>
              <a:ahLst/>
              <a:cxnLst/>
              <a:rect r="r" b="b" t="t" l="l"/>
              <a:pathLst>
                <a:path h="3294740" w="62985886">
                  <a:moveTo>
                    <a:pt x="0" y="76790"/>
                  </a:moveTo>
                  <a:cubicBezTo>
                    <a:pt x="0" y="34389"/>
                    <a:pt x="306039" y="0"/>
                    <a:pt x="683372" y="0"/>
                  </a:cubicBezTo>
                  <a:lnTo>
                    <a:pt x="62302541" y="0"/>
                  </a:lnTo>
                  <a:cubicBezTo>
                    <a:pt x="62679870" y="0"/>
                    <a:pt x="62985886" y="34389"/>
                    <a:pt x="62985886" y="76790"/>
                  </a:cubicBezTo>
                  <a:lnTo>
                    <a:pt x="62985886" y="3217950"/>
                  </a:lnTo>
                  <a:cubicBezTo>
                    <a:pt x="62985886" y="3260350"/>
                    <a:pt x="62679870" y="3294740"/>
                    <a:pt x="62302541" y="3294740"/>
                  </a:cubicBezTo>
                  <a:lnTo>
                    <a:pt x="683372" y="3294740"/>
                  </a:lnTo>
                  <a:cubicBezTo>
                    <a:pt x="306039" y="3294807"/>
                    <a:pt x="0" y="3260393"/>
                    <a:pt x="0" y="3217950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74" id="74"/>
          <p:cNvSpPr txBox="true"/>
          <p:nvPr/>
        </p:nvSpPr>
        <p:spPr>
          <a:xfrm rot="0">
            <a:off x="1595971" y="5812837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ativo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754419" y="5774737"/>
            <a:ext cx="318942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TINYINT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398003" y="5775855"/>
            <a:ext cx="244980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354926" y="4592641"/>
            <a:ext cx="244980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398003" y="3930120"/>
            <a:ext cx="24498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398003" y="5122859"/>
            <a:ext cx="24498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269657" y="5803312"/>
            <a:ext cx="466839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DEFAULT 1 - In</a:t>
            </a: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dica se o produto está ativo no sistema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82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38250" y="1991823"/>
            <a:ext cx="7384435" cy="7800648"/>
          </a:xfrm>
          <a:custGeom>
            <a:avLst/>
            <a:gdLst/>
            <a:ahLst/>
            <a:cxnLst/>
            <a:rect r="r" b="b" t="t" l="l"/>
            <a:pathLst>
              <a:path h="7800648" w="7384435">
                <a:moveTo>
                  <a:pt x="0" y="0"/>
                </a:moveTo>
                <a:lnTo>
                  <a:pt x="7384435" y="0"/>
                </a:lnTo>
                <a:lnTo>
                  <a:pt x="7384435" y="7800648"/>
                </a:lnTo>
                <a:lnTo>
                  <a:pt x="0" y="7800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331205"/>
            <a:ext cx="7890886" cy="6270810"/>
          </a:xfrm>
          <a:custGeom>
            <a:avLst/>
            <a:gdLst/>
            <a:ahLst/>
            <a:cxnLst/>
            <a:rect r="r" b="b" t="t" l="l"/>
            <a:pathLst>
              <a:path h="6270810" w="7890886">
                <a:moveTo>
                  <a:pt x="0" y="0"/>
                </a:moveTo>
                <a:lnTo>
                  <a:pt x="7890886" y="0"/>
                </a:lnTo>
                <a:lnTo>
                  <a:pt x="7890886" y="6270811"/>
                </a:lnTo>
                <a:lnTo>
                  <a:pt x="0" y="62708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01853" y="930278"/>
            <a:ext cx="2178291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1853" y="1219200"/>
            <a:ext cx="2100104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Script SQL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9903" y="6586137"/>
            <a:ext cx="15253973" cy="46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1595">
                <a:solidFill>
                  <a:srgbClr val="DFE3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226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691804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6525260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README.md e repositório GitHub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52575" y="2214582"/>
            <a:ext cx="7785878" cy="7622867"/>
            <a:chOff x="0" y="0"/>
            <a:chExt cx="10381170" cy="101638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81170" cy="10163730"/>
            </a:xfrm>
            <a:custGeom>
              <a:avLst/>
              <a:gdLst/>
              <a:ahLst/>
              <a:cxnLst/>
              <a:rect r="r" b="b" t="t" l="l"/>
              <a:pathLst>
                <a:path h="10163730" w="10381170">
                  <a:moveTo>
                    <a:pt x="0" y="159115"/>
                  </a:moveTo>
                  <a:cubicBezTo>
                    <a:pt x="0" y="71277"/>
                    <a:pt x="63377" y="0"/>
                    <a:pt x="141478" y="0"/>
                  </a:cubicBezTo>
                  <a:lnTo>
                    <a:pt x="10239692" y="0"/>
                  </a:lnTo>
                  <a:cubicBezTo>
                    <a:pt x="10317912" y="0"/>
                    <a:pt x="10381170" y="71277"/>
                    <a:pt x="10381170" y="159115"/>
                  </a:cubicBezTo>
                  <a:lnTo>
                    <a:pt x="10381170" y="10004616"/>
                  </a:lnTo>
                  <a:cubicBezTo>
                    <a:pt x="10381170" y="10092586"/>
                    <a:pt x="10317793" y="10163730"/>
                    <a:pt x="10239692" y="10163730"/>
                  </a:cubicBezTo>
                  <a:lnTo>
                    <a:pt x="141478" y="10163730"/>
                  </a:lnTo>
                  <a:cubicBezTo>
                    <a:pt x="63377" y="10163860"/>
                    <a:pt x="0" y="10092585"/>
                    <a:pt x="0" y="10004616"/>
                  </a:cubicBezTo>
                  <a:close/>
                </a:path>
              </a:pathLst>
            </a:custGeom>
            <a:blipFill>
              <a:blip r:embed="rId4"/>
              <a:stretch>
                <a:fillRect l="0" t="-1634" r="0" b="-1634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7609" y="2069573"/>
            <a:ext cx="6996379" cy="1054103"/>
            <a:chOff x="0" y="0"/>
            <a:chExt cx="9328506" cy="1405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8403" cy="1405382"/>
            </a:xfrm>
            <a:custGeom>
              <a:avLst/>
              <a:gdLst/>
              <a:ahLst/>
              <a:cxnLst/>
              <a:rect r="r" b="b" t="t" l="l"/>
              <a:pathLst>
                <a:path h="1405382" w="9328403">
                  <a:moveTo>
                    <a:pt x="0" y="179197"/>
                  </a:moveTo>
                  <a:cubicBezTo>
                    <a:pt x="0" y="80264"/>
                    <a:pt x="80264" y="0"/>
                    <a:pt x="179197" y="0"/>
                  </a:cubicBezTo>
                  <a:lnTo>
                    <a:pt x="9149207" y="0"/>
                  </a:lnTo>
                  <a:cubicBezTo>
                    <a:pt x="9248140" y="0"/>
                    <a:pt x="9328403" y="80264"/>
                    <a:pt x="9328403" y="179197"/>
                  </a:cubicBezTo>
                  <a:lnTo>
                    <a:pt x="9328403" y="1226185"/>
                  </a:lnTo>
                  <a:cubicBezTo>
                    <a:pt x="9328403" y="1325118"/>
                    <a:pt x="9248140" y="1405382"/>
                    <a:pt x="9149207" y="1405382"/>
                  </a:cubicBezTo>
                  <a:lnTo>
                    <a:pt x="179197" y="1405382"/>
                  </a:lnTo>
                  <a:cubicBezTo>
                    <a:pt x="80264" y="1405509"/>
                    <a:pt x="0" y="1325245"/>
                    <a:pt x="0" y="1226185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362409" y="2326748"/>
            <a:ext cx="7030536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</a:pPr>
            <a:r>
              <a:rPr lang="en-US" b="true" sz="1456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O que o README traz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62409" y="2545823"/>
            <a:ext cx="7030536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"/>
              </a:lnSpc>
            </a:pPr>
            <a:r>
              <a:rPr lang="en-US" sz="1387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Descrição, tecnologias, como rodar, equipe e licença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7609" y="3286658"/>
            <a:ext cx="6996379" cy="2201732"/>
            <a:chOff x="0" y="0"/>
            <a:chExt cx="9328506" cy="29356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28403" cy="2935605"/>
            </a:xfrm>
            <a:custGeom>
              <a:avLst/>
              <a:gdLst/>
              <a:ahLst/>
              <a:cxnLst/>
              <a:rect r="r" b="b" t="t" l="l"/>
              <a:pathLst>
                <a:path h="2935605" w="9328403">
                  <a:moveTo>
                    <a:pt x="0" y="178435"/>
                  </a:moveTo>
                  <a:cubicBezTo>
                    <a:pt x="0" y="79883"/>
                    <a:pt x="79883" y="0"/>
                    <a:pt x="178435" y="0"/>
                  </a:cubicBezTo>
                  <a:lnTo>
                    <a:pt x="9149969" y="0"/>
                  </a:lnTo>
                  <a:cubicBezTo>
                    <a:pt x="9248521" y="0"/>
                    <a:pt x="9328403" y="79883"/>
                    <a:pt x="9328403" y="178435"/>
                  </a:cubicBezTo>
                  <a:lnTo>
                    <a:pt x="9328403" y="2757170"/>
                  </a:lnTo>
                  <a:cubicBezTo>
                    <a:pt x="9328403" y="2855722"/>
                    <a:pt x="9248521" y="2935605"/>
                    <a:pt x="9149969" y="2935605"/>
                  </a:cubicBezTo>
                  <a:lnTo>
                    <a:pt x="178435" y="2935605"/>
                  </a:lnTo>
                  <a:cubicBezTo>
                    <a:pt x="79883" y="2935605"/>
                    <a:pt x="0" y="2855722"/>
                    <a:pt x="0" y="2757170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0362409" y="3391433"/>
            <a:ext cx="6596415" cy="24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lojadoces/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config/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controllers/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models/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views/</a:t>
            </a:r>
          </a:p>
          <a:p>
            <a:pPr algn="l">
              <a:lnSpc>
                <a:spcPts val="3248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0057609" y="5651363"/>
            <a:ext cx="6996379" cy="1054103"/>
            <a:chOff x="0" y="0"/>
            <a:chExt cx="9328506" cy="14054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28403" cy="1405382"/>
            </a:xfrm>
            <a:custGeom>
              <a:avLst/>
              <a:gdLst/>
              <a:ahLst/>
              <a:cxnLst/>
              <a:rect r="r" b="b" t="t" l="l"/>
              <a:pathLst>
                <a:path h="1405382" w="9328403">
                  <a:moveTo>
                    <a:pt x="0" y="179197"/>
                  </a:moveTo>
                  <a:cubicBezTo>
                    <a:pt x="0" y="80264"/>
                    <a:pt x="80264" y="0"/>
                    <a:pt x="179197" y="0"/>
                  </a:cubicBezTo>
                  <a:lnTo>
                    <a:pt x="9149207" y="0"/>
                  </a:lnTo>
                  <a:cubicBezTo>
                    <a:pt x="9248140" y="0"/>
                    <a:pt x="9328403" y="80264"/>
                    <a:pt x="9328403" y="179197"/>
                  </a:cubicBezTo>
                  <a:lnTo>
                    <a:pt x="9328403" y="1226185"/>
                  </a:lnTo>
                  <a:cubicBezTo>
                    <a:pt x="9328403" y="1325118"/>
                    <a:pt x="9248140" y="1405382"/>
                    <a:pt x="9149207" y="1405382"/>
                  </a:cubicBezTo>
                  <a:lnTo>
                    <a:pt x="179197" y="1405382"/>
                  </a:lnTo>
                  <a:cubicBezTo>
                    <a:pt x="80264" y="1405509"/>
                    <a:pt x="0" y="1325245"/>
                    <a:pt x="0" y="1226185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362409" y="5908538"/>
            <a:ext cx="7030536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</a:pPr>
            <a:r>
              <a:rPr lang="en-US" b="true" sz="1456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Versionamento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62409" y="6127613"/>
            <a:ext cx="7030536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"/>
              </a:lnSpc>
            </a:pPr>
            <a:r>
              <a:rPr lang="en-US" sz="1387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Commits frequentes e divisão por branches da equipe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19423" y="3370821"/>
            <a:ext cx="6596415" cy="201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public/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imagem/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sql/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docs/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index.php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61093" y="3299389"/>
            <a:ext cx="6596415" cy="37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└─ README.md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2C1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9675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8250" y="2016652"/>
            <a:ext cx="323850" cy="323850"/>
            <a:chOff x="0" y="0"/>
            <a:chExt cx="4318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9675" y="1997602"/>
            <a:ext cx="400050" cy="361950"/>
            <a:chOff x="0" y="0"/>
            <a:chExt cx="533400" cy="4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482600"/>
            </a:xfrm>
            <a:custGeom>
              <a:avLst/>
              <a:gdLst/>
              <a:ahLst/>
              <a:cxnLst/>
              <a:rect r="r" b="b" t="t" l="l"/>
              <a:pathLst>
                <a:path h="482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021" y="2469623"/>
            <a:ext cx="5126565" cy="6907216"/>
            <a:chOff x="0" y="0"/>
            <a:chExt cx="6835419" cy="92096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35394" cy="9209660"/>
            </a:xfrm>
            <a:custGeom>
              <a:avLst/>
              <a:gdLst/>
              <a:ahLst/>
              <a:cxnLst/>
              <a:rect r="r" b="b" t="t" l="l"/>
              <a:pathLst>
                <a:path h="9209660" w="6835394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6682740" y="0"/>
                  </a:lnTo>
                  <a:cubicBezTo>
                    <a:pt x="6767068" y="0"/>
                    <a:pt x="6835394" y="68326"/>
                    <a:pt x="6835394" y="152654"/>
                  </a:cubicBezTo>
                  <a:lnTo>
                    <a:pt x="6835394" y="9057005"/>
                  </a:lnTo>
                  <a:cubicBezTo>
                    <a:pt x="6835394" y="9141333"/>
                    <a:pt x="6767068" y="9209660"/>
                    <a:pt x="6682740" y="9209660"/>
                  </a:cubicBezTo>
                  <a:lnTo>
                    <a:pt x="152654" y="9209660"/>
                  </a:lnTo>
                  <a:cubicBezTo>
                    <a:pt x="68326" y="9209659"/>
                    <a:pt x="0" y="9141333"/>
                    <a:pt x="0" y="9057005"/>
                  </a:cubicBezTo>
                  <a:close/>
                </a:path>
              </a:pathLst>
            </a:custGeom>
            <a:blipFill>
              <a:blip r:embed="rId4"/>
              <a:stretch>
                <a:fillRect l="0" t="-94" r="0" b="-94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584947" y="2016652"/>
            <a:ext cx="323850" cy="323850"/>
            <a:chOff x="0" y="0"/>
            <a:chExt cx="431800" cy="431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46847" y="1997602"/>
            <a:ext cx="400050" cy="361950"/>
            <a:chOff x="0" y="0"/>
            <a:chExt cx="533400" cy="482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" cy="482600"/>
            </a:xfrm>
            <a:custGeom>
              <a:avLst/>
              <a:gdLst/>
              <a:ahLst/>
              <a:cxnLst/>
              <a:rect r="r" b="b" t="t" l="l"/>
              <a:pathLst>
                <a:path h="482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80718" y="2469623"/>
            <a:ext cx="5126565" cy="6907216"/>
            <a:chOff x="0" y="0"/>
            <a:chExt cx="6835419" cy="92096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35394" cy="9209660"/>
            </a:xfrm>
            <a:custGeom>
              <a:avLst/>
              <a:gdLst/>
              <a:ahLst/>
              <a:cxnLst/>
              <a:rect r="r" b="b" t="t" l="l"/>
              <a:pathLst>
                <a:path h="9209660" w="6835394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6682740" y="0"/>
                  </a:lnTo>
                  <a:cubicBezTo>
                    <a:pt x="6767068" y="0"/>
                    <a:pt x="6835394" y="68326"/>
                    <a:pt x="6835394" y="152654"/>
                  </a:cubicBezTo>
                  <a:lnTo>
                    <a:pt x="6835394" y="9057005"/>
                  </a:lnTo>
                  <a:cubicBezTo>
                    <a:pt x="6835394" y="9141333"/>
                    <a:pt x="6767068" y="9209660"/>
                    <a:pt x="6682740" y="9209660"/>
                  </a:cubicBezTo>
                  <a:lnTo>
                    <a:pt x="152654" y="9209660"/>
                  </a:lnTo>
                  <a:cubicBezTo>
                    <a:pt x="68326" y="9209659"/>
                    <a:pt x="0" y="9141333"/>
                    <a:pt x="0" y="9057005"/>
                  </a:cubicBezTo>
                  <a:close/>
                </a:path>
              </a:pathLst>
            </a:custGeom>
            <a:blipFill>
              <a:blip r:embed="rId5"/>
              <a:stretch>
                <a:fillRect l="0" t="-2394" r="0" b="-2394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931653" y="2016652"/>
            <a:ext cx="323850" cy="323850"/>
            <a:chOff x="0" y="0"/>
            <a:chExt cx="431800" cy="431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93553" y="1997602"/>
            <a:ext cx="400050" cy="361950"/>
            <a:chOff x="0" y="0"/>
            <a:chExt cx="533400" cy="482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" cy="482600"/>
            </a:xfrm>
            <a:custGeom>
              <a:avLst/>
              <a:gdLst/>
              <a:ahLst/>
              <a:cxnLst/>
              <a:rect r="r" b="b" t="t" l="l"/>
              <a:pathLst>
                <a:path h="482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27415" y="2469623"/>
            <a:ext cx="5126565" cy="6907216"/>
            <a:chOff x="0" y="0"/>
            <a:chExt cx="6835419" cy="92096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35394" cy="9209660"/>
            </a:xfrm>
            <a:custGeom>
              <a:avLst/>
              <a:gdLst/>
              <a:ahLst/>
              <a:cxnLst/>
              <a:rect r="r" b="b" t="t" l="l"/>
              <a:pathLst>
                <a:path h="9209660" w="6835394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6682740" y="0"/>
                  </a:lnTo>
                  <a:cubicBezTo>
                    <a:pt x="6767068" y="0"/>
                    <a:pt x="6835394" y="68326"/>
                    <a:pt x="6835394" y="152654"/>
                  </a:cubicBezTo>
                  <a:lnTo>
                    <a:pt x="6835394" y="9057005"/>
                  </a:lnTo>
                  <a:cubicBezTo>
                    <a:pt x="6835394" y="9141333"/>
                    <a:pt x="6767068" y="9209660"/>
                    <a:pt x="6682740" y="9209660"/>
                  </a:cubicBezTo>
                  <a:lnTo>
                    <a:pt x="152654" y="9209660"/>
                  </a:lnTo>
                  <a:cubicBezTo>
                    <a:pt x="68326" y="9209659"/>
                    <a:pt x="0" y="9141333"/>
                    <a:pt x="0" y="9057005"/>
                  </a:cubicBezTo>
                  <a:close/>
                </a:path>
              </a:pathLst>
            </a:custGeom>
            <a:blipFill>
              <a:blip r:embed="rId6"/>
              <a:stretch>
                <a:fillRect l="0" t="-5740" r="0" b="-5740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2101853" y="930278"/>
            <a:ext cx="381860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12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01853" y="1219200"/>
            <a:ext cx="3636010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Manual do sistema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1803" y="2066392"/>
            <a:ext cx="228700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Acessar e fazer login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48500" y="2066392"/>
            <a:ext cx="125756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Dashboard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95197" y="2066392"/>
            <a:ext cx="18520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Cadastrar produtos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72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453601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QUESITO 13 ·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28725"/>
            <a:ext cx="4606925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ao vivo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107673"/>
            <a:ext cx="15819968" cy="7269166"/>
            <a:chOff x="0" y="0"/>
            <a:chExt cx="21093290" cy="9692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93303" cy="9692133"/>
            </a:xfrm>
            <a:custGeom>
              <a:avLst/>
              <a:gdLst/>
              <a:ahLst/>
              <a:cxnLst/>
              <a:rect r="r" b="b" t="t" l="l"/>
              <a:pathLst>
                <a:path h="9692133" w="21093303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20940776" y="0"/>
                  </a:lnTo>
                  <a:cubicBezTo>
                    <a:pt x="21024977" y="0"/>
                    <a:pt x="21093303" y="68326"/>
                    <a:pt x="21093303" y="152527"/>
                  </a:cubicBezTo>
                  <a:lnTo>
                    <a:pt x="21093303" y="9539605"/>
                  </a:lnTo>
                  <a:cubicBezTo>
                    <a:pt x="21093303" y="9623806"/>
                    <a:pt x="21024977" y="9692132"/>
                    <a:pt x="20940776" y="9692132"/>
                  </a:cubicBezTo>
                  <a:lnTo>
                    <a:pt x="152527" y="9692132"/>
                  </a:lnTo>
                  <a:cubicBezTo>
                    <a:pt x="68326" y="9692259"/>
                    <a:pt x="0" y="9623933"/>
                    <a:pt x="0" y="953960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8467" cap="sq">
              <a:solidFill>
                <a:srgbClr val="FFFFFF"/>
              </a:solidFill>
              <a:prstDash val="dash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5940875" y="5515904"/>
            <a:ext cx="6406251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do site a seguir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30279" y="1710004"/>
            <a:ext cx="5065712" cy="1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b="true" sz="12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github.com/AmandaRS123/Loja_de_doces.git"/>
              </a:rPr>
              <a:t>https://github.com/AmandaRS123/Loja_de_doces.git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86880" y="9902828"/>
            <a:ext cx="5724773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8"/>
              </a:lnSpc>
            </a:pPr>
            <a:r>
              <a:rPr lang="en-US" b="true" sz="31912" spc="-1380">
                <a:solidFill>
                  <a:srgbClr val="FFFFFF">
                    <a:alpha val="4706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3D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3653" y="3297241"/>
            <a:ext cx="1734185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8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OBRIGADO(a)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653" y="3968220"/>
            <a:ext cx="17341853" cy="89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5"/>
              </a:lnSpc>
            </a:pPr>
            <a:r>
              <a:rPr lang="en-US" b="true" sz="7631" spc="-24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Perguntas?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3653" y="5063595"/>
            <a:ext cx="10426703" cy="55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799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Equipe Top Doces · RGI51 — 2026 · Escola Técnica 3D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6114517"/>
            <a:ext cx="15811500" cy="9525"/>
            <a:chOff x="0" y="0"/>
            <a:chExt cx="21082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82000" cy="12700"/>
            </a:xfrm>
            <a:custGeom>
              <a:avLst/>
              <a:gdLst/>
              <a:ahLst/>
              <a:cxnLst/>
              <a:rect r="r" b="b" t="t" l="l"/>
              <a:pathLst>
                <a:path h="127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3653" y="6453188"/>
            <a:ext cx="42374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REPOSITÓRIO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250" y="6938963"/>
            <a:ext cx="658475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https://github.com/AmandaRS123/Loja_de_doces.git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029" y="7529512"/>
            <a:ext cx="324859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CONTATO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2029" y="8005762"/>
            <a:ext cx="324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</a:t>
            </a:r>
            <a:r>
              <a:rPr lang="en-US" b="true" sz="15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opdoces3d@gmail.com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154150" y="7839075"/>
            <a:ext cx="2381250" cy="2381250"/>
            <a:chOff x="0" y="0"/>
            <a:chExt cx="3175000" cy="317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DAHN9rmFrIk</dc:identifier>
  <dcterms:modified xsi:type="dcterms:W3CDTF">2011-08-01T06:04:30Z</dcterms:modified>
  <cp:revision>1</cp:revision>
  <dc:title>Cópia de Modelo_de_defesa_de_projeto.pptx</dc:title>
</cp:coreProperties>
</file>